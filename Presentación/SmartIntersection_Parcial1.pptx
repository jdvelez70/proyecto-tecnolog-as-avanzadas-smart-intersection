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548640"/>
            <a:ext cx="2286000" cy="2286000"/>
          </a:xfrm>
          <a:prstGeom prst="ellipse">
            <a:avLst/>
          </a:prstGeom>
          <a:solidFill>
            <a:srgbClr val="1B8EA6">
              <a:alpha val="20000"/>
            </a:srgbClr>
          </a:solidFill>
          <a:ln w="25400">
            <a:solidFill>
              <a:srgbClr val="2EC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914400"/>
            <a:ext cx="1554480" cy="1554480"/>
          </a:xfrm>
          <a:prstGeom prst="ellipse">
            <a:avLst/>
          </a:prstGeom>
          <a:solidFill>
            <a:srgbClr val="1B8EA6">
              <a:alpha val="40000"/>
            </a:srgbClr>
          </a:solidFill>
          <a:ln w="12700">
            <a:solidFill>
              <a:srgbClr val="2EC4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00584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822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STREET INTERSECTION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Control de Tráfico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4114800" cy="36576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3317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I — Proyecto Ingeniería de Sistemas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los Llanos • 2026-I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3832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B8EA6">
              <a:alpha val="70000"/>
            </a:srgbClr>
          </a:solidFill>
          <a:ln w="12700">
            <a:solidFill>
              <a:srgbClr val="2EC4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3832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148840" y="33832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B8EA6">
              <a:alpha val="70000"/>
            </a:srgbClr>
          </a:solidFill>
          <a:ln w="12700">
            <a:solidFill>
              <a:srgbClr val="2EC4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33832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840480" y="33832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B8EA6">
              <a:alpha val="70000"/>
            </a:srgbClr>
          </a:solidFill>
          <a:ln w="12700">
            <a:solidFill>
              <a:srgbClr val="2EC4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0" y="33832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532120" y="33832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B8EA6">
              <a:alpha val="70000"/>
            </a:srgbClr>
          </a:solidFill>
          <a:ln w="12700">
            <a:solidFill>
              <a:srgbClr val="2EC4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32120" y="33832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223760" y="33832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B8EA6">
              <a:alpha val="70000"/>
            </a:srgbClr>
          </a:solidFill>
          <a:ln w="12700">
            <a:solidFill>
              <a:srgbClr val="2EC4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23760" y="33832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05840"/>
            <a:ext cx="8503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164592" cy="10972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0698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Congestión vehicular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14630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intersecciones fijas desperdician tiempo verde cuando no hay tráfico, generando colas innecesarias.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2331720"/>
            <a:ext cx="8503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331720"/>
            <a:ext cx="164592" cy="10972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39572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priorización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" y="278892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semáforos estáticos no detectan vehículos de emergencia ni solicitudes peatonales en tiempo real.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3657600"/>
            <a:ext cx="8503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3657600"/>
            <a:ext cx="164592" cy="10972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37216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del sistema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registro persistente de eventos, acciones del semáforo ni estadísticas de tráfico.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1B8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618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+ HC-SR04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1645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vehículos y control de LEDs en tiempo real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00600" y="1005840"/>
            <a:ext cx="411480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1B8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801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2618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OOP/GRASP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669280" y="1645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con clases, interfaces y patrones SOLID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926080"/>
            <a:ext cx="411480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1B8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004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1821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JSON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88720" y="35661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lecturas, acciones y alertas en archivos locales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00600" y="2926080"/>
            <a:ext cx="411480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1B8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0040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69280" y="31821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UI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669280" y="35661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menú para operar y demostrar el sistema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— DEFINICIÓN DEL PROYECTO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8686800" cy="393192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463040"/>
                <a:gridCol w="1737360"/>
                <a:gridCol w="1371600"/>
                <a:gridCol w="731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Uso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UC1: Detección vehículo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 (VehicleSensor)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 &lt; 20 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Verde + log acción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Lectura, timestamp, acción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6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UC2: Solicitud peatonal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Botón (PedestrianSensor)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Botón presionado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CycleSafe → LED Amarillo/Rojo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RequestId, status, 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UC3: Vehículo emergencia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sonido / entrada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Sirena activa / prioridad =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en ROJO + Alerta 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Alerta, placa, 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IMPLEMENTADO — Detección de Vehículo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51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ConsoleUI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83080" y="1481328"/>
            <a:ext cx="201168" cy="0"/>
          </a:xfrm>
          <a:prstGeom prst="line">
            <a:avLst/>
          </a:prstGeom>
          <a:noFill/>
          <a:ln w="25400">
            <a:solidFill>
              <a:srgbClr val="1B8E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84248" y="10058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1051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TrafficController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84248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receiveSensor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Data()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38728" y="1481328"/>
            <a:ext cx="201168" cy="0"/>
          </a:xfrm>
          <a:prstGeom prst="line">
            <a:avLst/>
          </a:prstGeom>
          <a:noFill/>
          <a:ln w="25400">
            <a:solidFill>
              <a:srgbClr val="1B8E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9896" y="10058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1051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VehicleSensor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39896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detectVehicle()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 cm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94376" y="1481328"/>
            <a:ext cx="201168" cy="0"/>
          </a:xfrm>
          <a:prstGeom prst="line">
            <a:avLst/>
          </a:prstGeom>
          <a:noFill/>
          <a:ln w="25400">
            <a:solidFill>
              <a:srgbClr val="1B8E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95544" y="10058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95544" y="1051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95544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saveSensor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Reading()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50024" y="1481328"/>
            <a:ext cx="201168" cy="0"/>
          </a:xfrm>
          <a:prstGeom prst="line">
            <a:avLst/>
          </a:prstGeom>
          <a:noFill/>
          <a:ln w="25400">
            <a:solidFill>
              <a:srgbClr val="1B8E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51192" y="10058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51192" y="1051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51192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LED:GREEN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286000"/>
            <a:ext cx="8686800" cy="384048"/>
          </a:xfrm>
          <a:prstGeom prst="rect">
            <a:avLst/>
          </a:prstGeom>
          <a:solidFill>
            <a:srgbClr val="1B8EA6">
              <a:alpha val="80000"/>
            </a:srgbClr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322576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UC1? Es el núcleo del sistema: sensor → lógica → semáforo → persistencia — el ciclo vertical completo.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27889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Usuario ingresa distancia simulada desde el menú (ConsoleUI)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7889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ArduinoConnector retorna la lectura (simulada desde Tinkercad)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31729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TrafficController llama a VehicleSensor.detectVehicle()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1729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 detectado: CycleController.changeLights(GREEN)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355701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 persiste la lectura en sensor_readings.json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55701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Arduino recibe 'LED:GREEN' y enciende el LED verde físico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OOP EN EL DISEÑO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8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114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509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EmergencyVehicle extends Vehicle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 atributos plate, type, speed y agrega priorityLevel y sirenOn.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8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4114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509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Sensor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55448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readData() como contrato. VehicleSensor y PedestrianSensor implementan su propia lógica.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304288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8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304288"/>
            <a:ext cx="4114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408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26517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TimingPolicy (interface)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2944368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CycleController acepta Fixed o AdaptiveTimingPolicy sin cambiar su código.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304288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8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304288"/>
            <a:ext cx="4114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408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6517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TrafficLight.changeLight()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944368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interno (color, timer) solo se modifica a través de métodos públicos controlados.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694176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8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694176"/>
            <a:ext cx="4114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730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40416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TrafficController contiene CycleController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334256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no hereda CC, lo usa. Si CC falla, TC puede reemplazarlo sin afectar el resto.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94176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8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94176"/>
            <a:ext cx="4114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730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40416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TimingPolicy define getGreenTime(), getRedTime()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4334256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agregar PriorityTimingPolicy en el futuro sin modificar ninguna clase existente.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GRASP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621792"/>
          </a:xfrm>
          <a:prstGeom prst="rect">
            <a:avLst/>
          </a:prstGeom>
          <a:solidFill>
            <a:srgbClr val="1E293B"/>
          </a:solidFill>
          <a:ln w="10160">
            <a:solidFill>
              <a:srgbClr val="1B8E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1920240" cy="621792"/>
          </a:xfrm>
          <a:prstGeom prst="rect">
            <a:avLst/>
          </a:prstGeom>
          <a:solidFill>
            <a:srgbClr val="1B8EA6">
              <a:alpha val="90000"/>
            </a:srgbClr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Expert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40280" y="9966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VehicleSensor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2344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sensor ES quien sabe si hay un vehículo (tiene distancia + umbral). detectVehicle() vive ahí, no en el controlador.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8686800" cy="621792"/>
          </a:xfrm>
          <a:prstGeom prst="rect">
            <a:avLst/>
          </a:prstGeom>
          <a:solidFill>
            <a:srgbClr val="1E293B"/>
          </a:solidFill>
          <a:ln w="10160">
            <a:solidFill>
              <a:srgbClr val="1B8E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664208"/>
            <a:ext cx="1920240" cy="621792"/>
          </a:xfrm>
          <a:prstGeom prst="rect">
            <a:avLst/>
          </a:prstGeom>
          <a:solidFill>
            <a:srgbClr val="1B8EA6">
              <a:alpha val="90000"/>
            </a:srgbClr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556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0280" y="17007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TrafficController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193852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todas las señales del sistema y delega al CycleController, repositorio y Arduino. No hace trabajo directo.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368296"/>
            <a:ext cx="8686800" cy="621792"/>
          </a:xfrm>
          <a:prstGeom prst="rect">
            <a:avLst/>
          </a:prstGeom>
          <a:solidFill>
            <a:srgbClr val="1E293B"/>
          </a:solidFill>
          <a:ln w="10160">
            <a:solidFill>
              <a:srgbClr val="1B8E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368296"/>
            <a:ext cx="1920240" cy="621792"/>
          </a:xfrm>
          <a:prstGeom prst="rect">
            <a:avLst/>
          </a:prstGeom>
          <a:solidFill>
            <a:srgbClr val="1B8EA6">
              <a:alpha val="90000"/>
            </a:srgbClr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5973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40280" y="2404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PedestrianSensor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264261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PedestrianRequest porque tiene toda la información necesaria (crosswalkId, timestamp) para construirlo.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072384"/>
            <a:ext cx="8686800" cy="621792"/>
          </a:xfrm>
          <a:prstGeom prst="rect">
            <a:avLst/>
          </a:prstGeom>
          <a:solidFill>
            <a:srgbClr val="1E293B"/>
          </a:solidFill>
          <a:ln w="10160">
            <a:solidFill>
              <a:srgbClr val="1B8E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072384"/>
            <a:ext cx="1920240" cy="621792"/>
          </a:xfrm>
          <a:prstGeom prst="rect">
            <a:avLst/>
          </a:prstGeom>
          <a:solidFill>
            <a:srgbClr val="1B8EA6">
              <a:alpha val="90000"/>
            </a:srgbClr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638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Coupling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40280" y="3108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CycleController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40280" y="334670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TimingPolicy (interfaz), no de Fixed ni Adaptive. Cambiar la política no afecta al ciclo.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776472"/>
            <a:ext cx="8686800" cy="621792"/>
          </a:xfrm>
          <a:prstGeom prst="rect">
            <a:avLst/>
          </a:prstGeom>
          <a:solidFill>
            <a:srgbClr val="1E293B"/>
          </a:solidFill>
          <a:ln w="10160">
            <a:solidFill>
              <a:srgbClr val="1B8E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776472"/>
            <a:ext cx="1920240" cy="621792"/>
          </a:xfrm>
          <a:prstGeom prst="rect">
            <a:avLst/>
          </a:prstGeom>
          <a:solidFill>
            <a:srgbClr val="1B8EA6">
              <a:alpha val="90000"/>
            </a:srgbClr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8679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Cohesion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40280" y="3813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IntersectionRepository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40280" y="405079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gestiona persistencia. No contiene lógica de semáforos ni sensores. Responsabilidad única y clara.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4480560"/>
            <a:ext cx="8686800" cy="621792"/>
          </a:xfrm>
          <a:prstGeom prst="rect">
            <a:avLst/>
          </a:prstGeom>
          <a:solidFill>
            <a:srgbClr val="1E293B"/>
          </a:solidFill>
          <a:ln w="10160">
            <a:solidFill>
              <a:srgbClr val="1B8E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4480560"/>
            <a:ext cx="1920240" cy="621792"/>
          </a:xfrm>
          <a:prstGeom prst="rect">
            <a:avLst/>
          </a:prstGeom>
          <a:solidFill>
            <a:srgbClr val="1B8EA6">
              <a:alpha val="90000"/>
            </a:srgbClr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572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Fabrication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40280" y="4517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ArduinoConnector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40280" y="47548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en el dominio real, se crea para abstraer la comunicación serial sin contaminar los modelos de negocio.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SOLID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96112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87552"/>
            <a:ext cx="566928" cy="566928"/>
          </a:xfrm>
          <a:prstGeom prst="ellipse">
            <a:avLst/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87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9509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2161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IntersectionRepository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20640" y="96926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persiste. ConsoleUI solo presenta. TrafficLight solo guarda su color. Ninguna clase mezcla responsabilidades.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987552"/>
            <a:ext cx="0" cy="56692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746504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37944"/>
            <a:ext cx="566928" cy="566928"/>
          </a:xfrm>
          <a:prstGeom prst="ellipse">
            <a:avLst/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379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1801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Closed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0665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TimingPolicy + CycleController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181965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CycleController está cerrado a modificación. Para nuevas políticas de tiempo se agrega una nueva clase sin tocar CC.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1837944"/>
            <a:ext cx="0" cy="56692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596896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688336"/>
            <a:ext cx="566928" cy="566928"/>
          </a:xfrm>
          <a:prstGeom prst="ellipse">
            <a:avLst/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883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91693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EmergencyVehicle extends Vehicle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67004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EmergencyVehicle puede usarse en cualquier contexto donde se espera un Vehicle sin romper el sistema.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2688336"/>
            <a:ext cx="0" cy="56692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447288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538728"/>
            <a:ext cx="566928" cy="566928"/>
          </a:xfrm>
          <a:prstGeom prst="ellipse">
            <a:avLst/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38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35021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76732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TimingPolicy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35204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solo expone getGreenTime() y getRedTime(). No fuerza a implementar métodos innecesarios.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3538728"/>
            <a:ext cx="0" cy="56692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4297680"/>
            <a:ext cx="8686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389120"/>
            <a:ext cx="566928" cy="566928"/>
          </a:xfrm>
          <a:prstGeom prst="ellipse">
            <a:avLst/>
          </a:prstGeom>
          <a:solidFill>
            <a:srgbClr val="0D1B2A"/>
          </a:solidFill>
          <a:ln w="19050">
            <a:solidFill>
              <a:srgbClr val="1B8E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389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60120" y="43525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0120" y="46177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CycleController ← TimingPolicy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43708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CycleController depende de la abstracción TimingPolicy, nunca de FixedTimingPolicy ni AdaptiveTimingPolicy directamente.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4389120"/>
            <a:ext cx="0" cy="56692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ARQUITECTURA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1371600"/>
          </a:xfrm>
          <a:prstGeom prst="rect">
            <a:avLst/>
          </a:prstGeom>
          <a:solidFill>
            <a:srgbClr val="1B5E85"/>
          </a:solidFill>
          <a:ln w="12700">
            <a:solidFill>
              <a:srgbClr val="2EC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87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UI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38988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ConsoleUI.java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interactivo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2011680" cy="1371600"/>
          </a:xfrm>
          <a:prstGeom prst="rect">
            <a:avLst/>
          </a:prstGeom>
          <a:solidFill>
            <a:srgbClr val="1A6B2E"/>
          </a:solidFill>
          <a:ln w="12700">
            <a:solidFill>
              <a:srgbClr val="2EC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987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138988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TrafficController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CycleController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2011680" cy="1371600"/>
          </a:xfrm>
          <a:prstGeom prst="rect">
            <a:avLst/>
          </a:prstGeom>
          <a:solidFill>
            <a:srgbClr val="7B3F00"/>
          </a:solidFill>
          <a:ln w="12700">
            <a:solidFill>
              <a:srgbClr val="2EC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987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138988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IntersectionRepository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0" y="914400"/>
            <a:ext cx="2011680" cy="1371600"/>
          </a:xfrm>
          <a:prstGeom prst="rect">
            <a:avLst/>
          </a:prstGeom>
          <a:solidFill>
            <a:srgbClr val="5C2D8A"/>
          </a:solidFill>
          <a:ln w="12700">
            <a:solidFill>
              <a:srgbClr val="2EC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987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03720" y="138988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ArduinoConnector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(Tinkercad / COM)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0" y="1600200"/>
            <a:ext cx="438912" cy="0"/>
          </a:xfrm>
          <a:prstGeom prst="line">
            <a:avLst/>
          </a:prstGeom>
          <a:noFill/>
          <a:ln w="25400">
            <a:solidFill>
              <a:srgbClr val="2EC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1600200"/>
            <a:ext cx="438912" cy="0"/>
          </a:xfrm>
          <a:prstGeom prst="line">
            <a:avLst/>
          </a:prstGeom>
          <a:noFill/>
          <a:ln w="25400">
            <a:solidFill>
              <a:srgbClr val="2EC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1600200"/>
            <a:ext cx="438912" cy="0"/>
          </a:xfrm>
          <a:prstGeom prst="line">
            <a:avLst/>
          </a:prstGeom>
          <a:noFill/>
          <a:ln w="25400">
            <a:solidFill>
              <a:srgbClr val="2EC4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2743200"/>
            <a:ext cx="20116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7432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Sensor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63840" y="2286000"/>
            <a:ext cx="0" cy="457200"/>
          </a:xfrm>
          <a:prstGeom prst="line">
            <a:avLst/>
          </a:prstGeom>
          <a:noFill/>
          <a:ln w="19050">
            <a:solidFill>
              <a:srgbClr val="F39C1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3749040"/>
            <a:ext cx="20116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37490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63840" y="3566160"/>
            <a:ext cx="0" cy="18288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2743200"/>
            <a:ext cx="20116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14600" y="3090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14600" y="33649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TrafficLight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14600" y="3639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PedestrianRequest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14600" y="39136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14600" y="4187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TrafficReport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0" y="2286000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&amp; HARDWARE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8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206240" cy="457200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PERSISTENCIA — JSON Files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Archivo: sensor_readings.json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sensorId, distance, detected, timestamp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Archivo: actions_log.json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controllerId, action, timestamp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JSON?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383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Sin dependencias externas (sin BD)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3657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Legible y portable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Suficiente para el alcance del prototipo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Fácil de ampliar a SQLite/H2 luego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91440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914400"/>
            <a:ext cx="42062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HARDWARE — Arduino + Tinkercad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4630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Placa: Arduino Uno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17373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Sensor: HC-SR04 (ultrasónico)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011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Pines: TRIG=7, ECHO=6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2860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Umbral detección: &lt; 20 cm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2560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28346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31089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LED Verde  → pin 9  (vehículo OK)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33832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LED Amarillo → pin 10 (peatón)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36576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LED Rojo   → pin 11 (stop/emergencia)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39319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42062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Serial (9600 baud):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44805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Arduino → Java: 'DIST:15.30'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47548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Java → Arduino: 'LED:GREEN'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 UML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 diagrama completo en el repositorio — imagen adjunta)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86868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B8E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447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1444752"/>
            <a:ext cx="6903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SmartIntersection, Vehicle, EmergencyVehicle, TrafficLight, PedestrianRequest, Alert, TrafficReport, Camera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0" y="1417320"/>
            <a:ext cx="0" cy="38404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901952"/>
            <a:ext cx="86868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B8E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751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1975104"/>
            <a:ext cx="6903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(abstract), VehicleSensor, PedestrianSensor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0" y="1947672"/>
            <a:ext cx="0" cy="38404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432304"/>
            <a:ext cx="86868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B8E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0545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2505456"/>
            <a:ext cx="6903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TrafficController, CycleController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0" y="2478024"/>
            <a:ext cx="0" cy="38404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962656"/>
            <a:ext cx="86868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B8E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03580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74520" y="3035808"/>
            <a:ext cx="6903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TimingPolicy (interface), FixedTimingPolicy, AdaptiveTimingPolicy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0" y="3008376"/>
            <a:ext cx="0" cy="38404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493008"/>
            <a:ext cx="86868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B8E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661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persistence/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74520" y="3566160"/>
            <a:ext cx="6903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IntersectionRepository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0" y="3538728"/>
            <a:ext cx="0" cy="38404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4023360"/>
            <a:ext cx="86868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B8E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09651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arduino/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74520" y="4096512"/>
            <a:ext cx="6903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ArduinoConnector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0" y="4069080"/>
            <a:ext cx="0" cy="38404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4553712"/>
            <a:ext cx="86868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B8E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62686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74520" y="4626864"/>
            <a:ext cx="6903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ConsoleUI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0" y="4599432"/>
            <a:ext cx="0" cy="384048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200" kern="0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5240">
            <a:solidFill>
              <a:srgbClr val="1B8E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01368"/>
            <a:ext cx="411480" cy="411480"/>
          </a:xfrm>
          <a:prstGeom prst="ellipse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801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ConsoleUI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opción [1] — Simular vehículo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69164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5240">
            <a:solidFill>
              <a:srgbClr val="1B8E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801368"/>
            <a:ext cx="411480" cy="411480"/>
          </a:xfrm>
          <a:prstGeom prst="ellipse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1801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distancia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24028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15 cm → detecta vehículo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69164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5240">
            <a:solidFill>
              <a:srgbClr val="1B8E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801368"/>
            <a:ext cx="411480" cy="411480"/>
          </a:xfrm>
          <a:prstGeom prst="ellipse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1801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TrafficController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24028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receiveSensorData() → optimizeTraffic()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5240">
            <a:solidFill>
              <a:srgbClr val="1B8E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64408"/>
            <a:ext cx="411480" cy="411480"/>
          </a:xfrm>
          <a:prstGeom prst="ellipse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64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264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Verde activo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70332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recibe LED:GREEN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315468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5240">
            <a:solidFill>
              <a:srgbClr val="1B8E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3264408"/>
            <a:ext cx="411480" cy="411480"/>
          </a:xfrm>
          <a:prstGeom prst="ellipse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264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94760" y="3264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70332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[6] → sensor_readings.json actualizado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los Llanos  •  Ingeniería de Sistemas  •  2026-I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Street Intersection — Parcial I 2026</dc:title>
  <dc:subject>PptxGenJS Presentation</dc:subject>
  <dc:creator>PptxGenJS</dc:creator>
  <cp:lastModifiedBy>PptxGenJS</cp:lastModifiedBy>
  <cp:revision>1</cp:revision>
  <dcterms:created xsi:type="dcterms:W3CDTF">2026-04-19T22:48:46Z</dcterms:created>
  <dcterms:modified xsi:type="dcterms:W3CDTF">2026-04-19T22:48:46Z</dcterms:modified>
</cp:coreProperties>
</file>